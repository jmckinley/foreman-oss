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E6EDF3"/>
                </a:solidFill>
                <a:latin typeface="Helvetica Neue"/>
              </a:rPr>
              <a:t>Foreman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7C9CF5"/>
                </a:solidFill>
                <a:latin typeface="Helvetica Neue"/>
              </a:rPr>
              <a:t>Supervise everything your agents build — and prove it’s healthy.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9AA7B5"/>
                </a:solidFill>
                <a:latin typeface="Helvetica Neue"/>
              </a:rPr>
              <a:t>The control plane for a portfolio of software built and maintained by coding agents: it schedules the recurring reviews, collects a verdict from every run, and surfaces what needs you. Schedules and reads — the prompts do the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5669280" cy="548640"/>
          </a:xfrm>
          <a:prstGeom prst="roundRect">
            <a:avLst/>
          </a:prstGeom>
          <a:solidFill>
            <a:srgbClr val="151B23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B950"/>
                </a:solidFill>
              </a:rPr>
              <a:t>M1–M8 shipped · 304 tests · ~86%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7B5"/>
                </a:solidFill>
                <a:latin typeface="Helvetica Neue"/>
              </a:rPr>
              <a:t>receipts in git · green/amber/red verdicts · declared-vs-effective drift · cloud / local / session tiers · one 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The shift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0607040" cy="1554480"/>
          </a:xfrm>
          <a:prstGeom prst="roundRect">
            <a:avLst/>
          </a:prstGeom>
          <a:solidFill>
            <a:srgbClr val="151B23"/>
          </a:solidFill>
          <a:ln w="12700">
            <a:solidFill>
              <a:srgbClr val="2A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200" i="1" b="1">
                <a:solidFill>
                  <a:srgbClr val="E6EDF3"/>
                </a:solidFill>
              </a:rPr>
              <a:t>“The bottleneck moved from writing code to supervising many autonomous streams of it.”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Coding agents made it cheap to create and maintain far more software per person.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One operator now runs 10–30 agent-maintained projects at once.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Nothing exists to keep them all healthy without babysitting each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Is each of 20 repos still documented? secure? prod-ready? on budget?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CI only fires on commits — and only runs deterministic checks.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The reviews that matter (architecture, UX, pen-test, prod-readiness) are open-ended judgment no linter can make.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Doing it by hand, per repo, every week — doesn't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What Foreman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0607040" cy="1554480"/>
          </a:xfrm>
          <a:prstGeom prst="roundRect">
            <a:avLst/>
          </a:prstGeom>
          <a:solidFill>
            <a:srgbClr val="151B23"/>
          </a:solidFill>
          <a:ln w="12700">
            <a:solidFill>
              <a:srgbClr val="2A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200" i="1" b="1">
                <a:solidFill>
                  <a:srgbClr val="E6EDF3"/>
                </a:solidFill>
              </a:rPr>
              <a:t>“A control plane: it schedules AI reviews across every project, reduces each to a durable green/amber/red verdict, and shows the fleet on one board — with a git-committed receipt behind every verdict.”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A control repo, a contract, and a small index — not a daemon, not an agent runtime.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Foreman never does the work; the cadence prompts 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One glance: catch up on the whole fleet</a:t>
            </a:r>
          </a:p>
        </p:txBody>
      </p:sp>
      <p:pic>
        <p:nvPicPr>
          <p:cNvPr id="5" name="Picture 4" descr="deck-01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158" y="1417320"/>
            <a:ext cx="2805379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1663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7B5"/>
                </a:solidFill>
                <a:latin typeface="Helvetica Neue"/>
              </a:rPr>
              <a:t>Every section folds to a one-line peek and opens on signal, so the board is a scannable digest. “How to read this board” decodes the colour language · fleet catch-up (“Since you were away”) and triage (“Needs you” · “Queued” one-click actions) lead · “Recently worked on” is a searchable per-project prompt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How it works — every run leaves a receipt in git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062886" cy="1463040"/>
          </a:xfrm>
          <a:prstGeom prst="roundRect">
            <a:avLst/>
          </a:prstGeom>
          <a:solidFill>
            <a:srgbClr val="151B23"/>
          </a:solidFill>
          <a:ln w="12700">
            <a:solidFill>
              <a:srgbClr val="7C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</a:rPr>
              <a:t>a loop runs</a:t>
            </a:r>
          </a:p>
          <a:p>
            <a:pPr algn="ctr"/>
            <a:r>
              <a:rPr sz="1000" b="0">
                <a:solidFill>
                  <a:srgbClr val="9AA7B5"/>
                </a:solidFill>
              </a:rPr>
              <a:t>(cloud / local / session)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67558" y="2468880"/>
            <a:ext cx="2062886" cy="1463040"/>
          </a:xfrm>
          <a:prstGeom prst="roundRect">
            <a:avLst/>
          </a:prstGeom>
          <a:solidFill>
            <a:srgbClr val="151B23"/>
          </a:solidFill>
          <a:ln w="12700">
            <a:solidFill>
              <a:srgbClr val="7C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</a:rPr>
              <a:t>writes a receipt</a:t>
            </a:r>
          </a:p>
          <a:p>
            <a:pPr algn="ctr"/>
            <a:r>
              <a:rPr sz="1000" b="0">
                <a:solidFill>
                  <a:srgbClr val="9AA7B5"/>
                </a:solidFill>
              </a:rPr>
              <a:t>(one JSON shape)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95036" y="2468880"/>
            <a:ext cx="2062886" cy="1463040"/>
          </a:xfrm>
          <a:prstGeom prst="roundRect">
            <a:avLst/>
          </a:prstGeom>
          <a:solidFill>
            <a:srgbClr val="151B23"/>
          </a:solidFill>
          <a:ln w="12700">
            <a:solidFill>
              <a:srgbClr val="7C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</a:rPr>
              <a:t>committed to git</a:t>
            </a:r>
          </a:p>
          <a:p>
            <a:pPr algn="ctr"/>
            <a:r>
              <a:rPr sz="1000" b="0">
                <a:solidFill>
                  <a:srgbClr val="9AA7B5"/>
                </a:solidFill>
              </a:rPr>
              <a:t>(state branch)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22514" y="2468880"/>
            <a:ext cx="2062886" cy="1463040"/>
          </a:xfrm>
          <a:prstGeom prst="roundRect">
            <a:avLst/>
          </a:prstGeom>
          <a:solidFill>
            <a:srgbClr val="151B23"/>
          </a:solidFill>
          <a:ln w="12700">
            <a:solidFill>
              <a:srgbClr val="7C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</a:rPr>
              <a:t>board reads it</a:t>
            </a:r>
          </a:p>
          <a:p>
            <a:pPr algn="ctr"/>
            <a:r>
              <a:rPr sz="1000" b="0">
                <a:solidFill>
                  <a:srgbClr val="9AA7B5"/>
                </a:solidFill>
              </a:rPr>
              <a:t>→ verdict + trend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49992" y="2468880"/>
            <a:ext cx="2062886" cy="1463040"/>
          </a:xfrm>
          <a:prstGeom prst="roundRect">
            <a:avLst/>
          </a:prstGeom>
          <a:solidFill>
            <a:srgbClr val="151B23"/>
          </a:solidFill>
          <a:ln w="12700">
            <a:solidFill>
              <a:srgbClr val="7C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DF3"/>
                </a:solidFill>
              </a:rPr>
              <a:t>red → GitHub issue</a:t>
            </a:r>
          </a:p>
          <a:p>
            <a:pPr algn="ctr"/>
            <a:r>
              <a:rPr sz="1000" b="0">
                <a:solidFill>
                  <a:srgbClr val="9AA7B5"/>
                </a:solidFill>
              </a:rPr>
              <a:t>green closes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AA7B5"/>
                </a:solidFill>
                <a:latin typeface="Helvetica Neue"/>
              </a:rPr>
              <a:t>A run with no receipt is red by absence — silent scheduler failures become visible. The SQLite index is just a cache, fully rebuildable from the receipts.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The loop library</a:t>
            </a:r>
          </a:p>
        </p:txBody>
      </p:sp>
      <p:pic>
        <p:nvPicPr>
          <p:cNvPr id="5" name="Picture 4" descr="deck-04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158" y="1417320"/>
            <a:ext cx="2805379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1663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7B5"/>
                </a:solidFill>
                <a:latin typeface="Helvetica Neue"/>
              </a:rPr>
              <a:t>docs · quality · security · soc2 · arch · perf · prod-readiness · pen-test · test · UI/UX — one-click per project, or customize a built-in / add your 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Every project’s loops, in one panel</a:t>
            </a:r>
          </a:p>
        </p:txBody>
      </p:sp>
      <p:pic>
        <p:nvPicPr>
          <p:cNvPr id="5" name="Picture 4" descr="deck-02-lo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158" y="1417320"/>
            <a:ext cx="2805379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1663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7B5"/>
                </a:solidFill>
                <a:latin typeface="Helvetica Neue"/>
              </a:rPr>
              <a:t>verdict + trend sparkline · flexible schedule (“every N days”, weekdays, weekly…) &amp; next run · where it runs · run / remove / add.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Fleet health — with a recommendation, not just numbers</a:t>
            </a:r>
          </a:p>
        </p:txBody>
      </p:sp>
      <p:pic>
        <p:nvPicPr>
          <p:cNvPr id="5" name="Picture 4" descr="deck-03-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158" y="1417320"/>
            <a:ext cx="2805379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1663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7B5"/>
                </a:solidFill>
                <a:latin typeface="Helvetica Neue"/>
              </a:rPr>
              <a:t>Each repo leads with “Suggested next” — the raw git/GitHub stats synthesized into a short, prioritized list of what to act on (red → amber). Related signals fold into one action; the top one shows in the collapsed row. Vital-sign tiles and a cross-project roll-up sit below as detail.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The loop closes itself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0607040" cy="1554480"/>
          </a:xfrm>
          <a:prstGeom prst="roundRect">
            <a:avLst/>
          </a:prstGeom>
          <a:solidFill>
            <a:srgbClr val="151B23"/>
          </a:solidFill>
          <a:ln w="12700">
            <a:solidFill>
              <a:srgbClr val="2A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200" i="1" b="1">
                <a:solidFill>
                  <a:srgbClr val="E6EDF3"/>
                </a:solidFill>
              </a:rPr>
              <a:t>“amber ages to red → red opens a GitHub issue → a green run closes it, linking the clearing receipt.”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Every verdict is a schema-validated JSON receipt committed to git.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A tamper-evident, versioned record of what was reviewed, when, and how it turned 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Why it’s different — the moats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07040" cy="1097280"/>
          </a:xfrm>
          <a:prstGeom prst="roundRect">
            <a:avLst/>
          </a:prstGeom>
          <a:solidFill>
            <a:srgbClr val="151B23"/>
          </a:solidFill>
          <a:ln w="12700">
            <a:solidFill>
              <a:srgbClr val="7C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/>
            <a:r>
              <a:rPr sz="1700" b="1">
                <a:solidFill>
                  <a:srgbClr val="7C9CF5"/>
                </a:solidFill>
                <a:latin typeface="Helvetica Neue"/>
              </a:rPr>
              <a:t>CONTRACT · Receipt-as-contract, index-as-cache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AA7B5"/>
                </a:solidFill>
                <a:latin typeface="Helvetica Neue"/>
              </a:rPr>
              <a:t>Every verdict is a git-committed JSON receipt; the database is a throwaway cache. Inspectable, versioned, portable — not a stateful black 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044952"/>
            <a:ext cx="10607040" cy="1097280"/>
          </a:xfrm>
          <a:prstGeom prst="roundRect">
            <a:avLst/>
          </a:prstGeom>
          <a:solidFill>
            <a:srgbClr val="151B23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/>
            <a:r>
              <a:rPr sz="1700" b="1">
                <a:solidFill>
                  <a:srgbClr val="3FB950"/>
                </a:solidFill>
                <a:latin typeface="Helvetica Neue"/>
              </a:rPr>
              <a:t>DRIFT · Declared ≠ effective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AA7B5"/>
                </a:solidFill>
                <a:latin typeface="Helvetica Neue"/>
              </a:rPr>
              <a:t>Foreman probes what’s actually in effect (claude -p) and reports config drift — pins, shadowed permissions, silently-skipped skills. No comparable tool does this.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306824"/>
            <a:ext cx="10607040" cy="1097280"/>
          </a:xfrm>
          <a:prstGeom prst="roundRect">
            <a:avLst/>
          </a:prstGeom>
          <a:solidFill>
            <a:srgbClr val="151B23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/>
            <a:r>
              <a:rPr sz="1700" b="1">
                <a:solidFill>
                  <a:srgbClr val="E3B341"/>
                </a:solidFill>
                <a:latin typeface="Helvetica Neue"/>
              </a:rPr>
              <a:t>METERED · Portfolio + time, metered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AA7B5"/>
                </a:solidFill>
                <a:latin typeface="Helvetica Neue"/>
              </a:rPr>
              <a:t>Cloud/local/session tiers, per-run budgets, quota guard, spend by project — agent runs as a metered resource across a fleet.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568696"/>
            <a:ext cx="10607040" cy="1097280"/>
          </a:xfrm>
          <a:prstGeom prst="roundRect">
            <a:avLst/>
          </a:prstGeom>
          <a:solidFill>
            <a:srgbClr val="151B23"/>
          </a:solidFill>
          <a:ln w="12700">
            <a:solidFill>
              <a:srgbClr val="A371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/>
            <a:r>
              <a:rPr sz="1700" b="1">
                <a:solidFill>
                  <a:srgbClr val="A371F7"/>
                </a:solidFill>
                <a:latin typeface="Helvetica Neue"/>
              </a:rPr>
              <a:t>SUPERVISOR · A supervisor, not a swarm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AA7B5"/>
                </a:solidFill>
                <a:latin typeface="Helvetica Neue"/>
              </a:rPr>
              <a:t>“Never does the work” keeps it composable and safe — it orchestrates when agents run and reads what they concluded.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The wedge: continuous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0607040" cy="1554480"/>
          </a:xfrm>
          <a:prstGeom prst="roundRect">
            <a:avLst/>
          </a:prstGeom>
          <a:solidFill>
            <a:srgbClr val="151B23"/>
          </a:solidFill>
          <a:ln w="12700">
            <a:solidFill>
              <a:srgbClr val="2A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200" i="1" b="1">
                <a:solidFill>
                  <a:srgbClr val="E6EDF3"/>
                </a:solidFill>
              </a:rPr>
              <a:t>“The security / soc2 / pen-test loops + the git-committed receipt history are, together, audit evidence that every project was reviewed on a schedule.”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Every verdict and its clearing, versioned in git.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Not a nice-to-have — audit evidence with a buyer and a budget.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Where it 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Not CI/CD — cadence-driven, not commit-driven; open-ended AI reviews, not scripts.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Not a code-quality SaaS — LLM judgment (arch, UX, pen-test), portfolio-wide.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Not a coding agent — the layer above; it never does the work.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Not an agent-swarm framework — a standing supervisor across projects and time.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Uniquely: the config-drift probe, and the rebuildable git-native receipt trail.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Who it’s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The operator — solo builder, studio, or platform team — running many agent-maintained projects.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Who needs portfolio-level assurance: is every project still documented, secure, prod-ready, on budget — and can I prove it?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Status &amp; honest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Shipped: M1–M8 + secrets store + full operator surface. 304 tests, ~86% coverage.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Live as a local dashboard + a token-gated read-only hosted board.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Deeply wired to Claude Code today (the drift probe is the ecosystem-specific moat).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Verdicts are LLM judgments — mitigated by an independent verifier pass.</a:t>
            </a:r>
          </a:p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Single-operator today, not yet multi-tenant SaaS; cloud-tier ops partly host-bound.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502920" cy="64008"/>
          </a:xfrm>
          <a:prstGeom prst="roundRect">
            <a:avLst/>
          </a:prstGeom>
          <a:solidFill>
            <a:srgbClr val="7C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Helvetica Neue"/>
              </a:rPr>
              <a:t>The bottom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0607040" cy="1554480"/>
          </a:xfrm>
          <a:prstGeom prst="roundRect">
            <a:avLst/>
          </a:prstGeom>
          <a:solidFill>
            <a:srgbClr val="151B23"/>
          </a:solidFill>
          <a:ln w="12700">
            <a:solidFill>
              <a:srgbClr val="2A3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200" i="1" b="1">
                <a:solidFill>
                  <a:srgbClr val="E6EDF3"/>
                </a:solidFill>
              </a:rPr>
              <a:t>“A supervisor you can trust and reconstruct — not an agent swarm.”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800"/>
              </a:spcAft>
            </a:pPr>
            <a:r>
              <a:rPr sz="1700">
                <a:solidFill>
                  <a:srgbClr val="E6EDF3"/>
                </a:solidFill>
                <a:latin typeface="Helvetica Neue"/>
              </a:rPr>
              <a:t>• README.md · docs/ONE-PAGER.md · docs/COMPARISON.md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